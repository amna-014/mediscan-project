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4" r:id="rId12"/>
    <p:sldId id="28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1991360" y="1657604"/>
            <a:ext cx="6583680" cy="682244"/>
          </a:xfrm>
        </p:spPr>
        <p:txBody>
          <a:bodyPr/>
          <a:lstStyle/>
          <a:p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6000" dirty="0"/>
            </a:br>
            <a:r>
              <a:rPr lang="en-US" sz="6000" dirty="0"/>
              <a:t>MediScan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8479" y="2259446"/>
            <a:ext cx="6766561" cy="1169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 Digital Transformation Project using Cloud AI &amp; Mobile IoT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E27C9-7857-218E-1AFD-B36C761BA344}"/>
              </a:ext>
            </a:extLst>
          </p:cNvPr>
          <p:cNvSpPr txBox="1"/>
          <p:nvPr/>
        </p:nvSpPr>
        <p:spPr>
          <a:xfrm rot="10800000" flipV="1">
            <a:off x="1808480" y="3521333"/>
            <a:ext cx="4124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Presented By: AMNA YOUSUF (2022F-BBM-012)</a:t>
            </a:r>
          </a:p>
          <a:p>
            <a:endParaRPr lang="en-US" sz="16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SHAHMEER HUSSAIN (2022F-BBM-014)</a:t>
            </a:r>
          </a:p>
          <a:p>
            <a:endParaRPr lang="en-US" sz="16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SABEEN ANSARI (2022F-BBM-035)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05C89-E8D8-B89F-1C5D-D4F1AEFB8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042" y="-17271"/>
            <a:ext cx="3146598" cy="692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5323" y="2052738"/>
            <a:ext cx="6497476" cy="3665890"/>
          </a:xfrm>
        </p:spPr>
        <p:txBody>
          <a:bodyPr/>
          <a:lstStyle/>
          <a:p>
            <a:r>
              <a:rPr lang="en-US" sz="1800" b="1" dirty="0"/>
              <a:t>Manual Tracking </a:t>
            </a:r>
            <a:r>
              <a:rPr lang="en-US" sz="1800" dirty="0"/>
              <a:t>:Identifying and counting supplies is slow and error-prone.</a:t>
            </a:r>
            <a:r>
              <a:rPr lang="en-US" sz="1800" b="1" dirty="0"/>
              <a:t> </a:t>
            </a:r>
          </a:p>
          <a:p>
            <a:r>
              <a:rPr lang="en-US" sz="1800" b="1" dirty="0"/>
              <a:t>Human Error:</a:t>
            </a:r>
            <a:r>
              <a:rPr lang="en-US" sz="1800" dirty="0"/>
              <a:t> Misplaced items or shortages delay patient care.</a:t>
            </a:r>
            <a:endParaRPr lang="en-US" sz="1800" b="1" dirty="0"/>
          </a:p>
          <a:p>
            <a:r>
              <a:rPr lang="en-US" sz="1800" b="1" dirty="0"/>
              <a:t>Lack of Digitization</a:t>
            </a:r>
            <a:r>
              <a:rPr lang="en-US" sz="1800" dirty="0"/>
              <a:t>: Most inventory systems are not updated in real-time.</a:t>
            </a:r>
          </a:p>
          <a:p>
            <a:r>
              <a:rPr lang="en-US" sz="1800" b="1" dirty="0"/>
              <a:t>The Need</a:t>
            </a:r>
            <a:r>
              <a:rPr lang="en-US" sz="1800" dirty="0"/>
              <a:t>: A portable, automated system to recognize basic medical supplies instantly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D9617-3777-3A3D-3D30-B33FADE9B95F}"/>
              </a:ext>
            </a:extLst>
          </p:cNvPr>
          <p:cNvSpPr txBox="1"/>
          <p:nvPr/>
        </p:nvSpPr>
        <p:spPr>
          <a:xfrm>
            <a:off x="444500" y="1380931"/>
            <a:ext cx="6497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Challenges in Healthcare Logistics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 ( System Overview)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2202022"/>
            <a:ext cx="6930052" cy="3516606"/>
          </a:xfrm>
        </p:spPr>
        <p:txBody>
          <a:bodyPr/>
          <a:lstStyle/>
          <a:p>
            <a:r>
              <a:rPr lang="en-US" sz="1800" b="1" dirty="0"/>
              <a:t>Core Tech</a:t>
            </a:r>
            <a:r>
              <a:rPr lang="en-US" sz="1800" dirty="0"/>
              <a:t>: YOLOv11 Object Detection Model.</a:t>
            </a:r>
          </a:p>
          <a:p>
            <a:r>
              <a:rPr lang="en-US" sz="1800" b="1" dirty="0"/>
              <a:t>Platform</a:t>
            </a:r>
            <a:r>
              <a:rPr lang="en-US" sz="1800" dirty="0"/>
              <a:t>: </a:t>
            </a:r>
            <a:r>
              <a:rPr lang="en-US" sz="1800" dirty="0" err="1"/>
              <a:t>Roboflow</a:t>
            </a:r>
            <a:r>
              <a:rPr lang="en-US" sz="1800" dirty="0"/>
              <a:t> (Cloud Training &amp; Hosting).</a:t>
            </a:r>
          </a:p>
          <a:p>
            <a:r>
              <a:rPr lang="en-US" sz="1800" b="1" dirty="0"/>
              <a:t>Interface</a:t>
            </a:r>
            <a:r>
              <a:rPr lang="en-US" sz="1800" dirty="0"/>
              <a:t>: Mobile App Wrapper for portable "Point-and-Scan" usage.</a:t>
            </a:r>
          </a:p>
          <a:p>
            <a:r>
              <a:rPr lang="en-US" sz="1800" b="1" dirty="0"/>
              <a:t>Target Classes</a:t>
            </a:r>
            <a:r>
              <a:rPr lang="en-US" sz="1800" dirty="0"/>
              <a:t>: Medicine (Calpol), Bandage (</a:t>
            </a:r>
            <a:r>
              <a:rPr lang="en-US" sz="1800" dirty="0" err="1"/>
              <a:t>Saniplast</a:t>
            </a:r>
            <a:r>
              <a:rPr lang="en-US" sz="1800" dirty="0"/>
              <a:t>), Thermometer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A094C-AA66-708A-1487-6E2347720F53}"/>
              </a:ext>
            </a:extLst>
          </p:cNvPr>
          <p:cNvSpPr txBox="1"/>
          <p:nvPr/>
        </p:nvSpPr>
        <p:spPr>
          <a:xfrm>
            <a:off x="444500" y="1455573"/>
            <a:ext cx="655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AI-Powered Mobile Scanner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Methodology – Phase 1: Data Engineering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940770"/>
            <a:ext cx="11461361" cy="4739430"/>
          </a:xfrm>
        </p:spPr>
        <p:txBody>
          <a:bodyPr/>
          <a:lstStyle/>
          <a:p>
            <a:r>
              <a:rPr lang="en-US" sz="2000" b="1" dirty="0"/>
              <a:t>Total Images</a:t>
            </a:r>
            <a:r>
              <a:rPr lang="en-US" sz="2000" dirty="0"/>
              <a:t>: 119 Custom Images (collected in varied lighting/angles).</a:t>
            </a:r>
          </a:p>
          <a:p>
            <a:r>
              <a:rPr lang="en-US" sz="2000" b="1" dirty="0"/>
              <a:t>Classes</a:t>
            </a:r>
            <a:r>
              <a:rPr lang="en-US" sz="2000" dirty="0"/>
              <a:t>: Balanced dataset (Medicine: 67, Bandage: 52, Thermometer: 48).</a:t>
            </a:r>
          </a:p>
          <a:p>
            <a:r>
              <a:rPr lang="en-US" sz="2000" b="1" dirty="0"/>
              <a:t>Split</a:t>
            </a:r>
            <a:r>
              <a:rPr lang="en-US" sz="2000" dirty="0"/>
              <a:t>: 80 Train / 25 Validation / 14 Test.</a:t>
            </a:r>
          </a:p>
          <a:p>
            <a:r>
              <a:rPr lang="en-US" sz="2000" b="1" dirty="0"/>
              <a:t>Visual</a:t>
            </a:r>
            <a:r>
              <a:rPr lang="en-US" sz="2000" dirty="0"/>
              <a:t>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4ECAE-D4BD-1384-4A2C-6B8B3E843B7C}"/>
              </a:ext>
            </a:extLst>
          </p:cNvPr>
          <p:cNvSpPr txBox="1"/>
          <p:nvPr/>
        </p:nvSpPr>
        <p:spPr>
          <a:xfrm>
            <a:off x="597159" y="1324947"/>
            <a:ext cx="638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Dataset Curation &amp; Annotation</a:t>
            </a:r>
          </a:p>
        </p:txBody>
      </p:sp>
      <p:pic>
        <p:nvPicPr>
          <p:cNvPr id="5" name="Picture 4" descr="Screenshot 2025-12-28 144748">
            <a:extLst>
              <a:ext uri="{FF2B5EF4-FFF2-40B4-BE49-F238E27FC236}">
                <a16:creationId xmlns:a16="http://schemas.microsoft.com/office/drawing/2014/main" id="{73D062C1-5C06-E53A-7D87-7D8B101AB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834" y="3167652"/>
            <a:ext cx="7931020" cy="350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Methodology- Phase 2: Model Architecture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600639"/>
            <a:ext cx="5157787" cy="823912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Training with YOLOv11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313992"/>
            <a:ext cx="5157787" cy="3875671"/>
          </a:xfrm>
        </p:spPr>
        <p:txBody>
          <a:bodyPr/>
          <a:lstStyle/>
          <a:p>
            <a:r>
              <a:rPr lang="en-US" sz="2000" b="1" dirty="0"/>
              <a:t>Architecture</a:t>
            </a:r>
            <a:r>
              <a:rPr lang="en-US" sz="2000" dirty="0"/>
              <a:t>: YOLO (You Only Look Once) selected for real-time single-stage detection.</a:t>
            </a:r>
          </a:p>
          <a:p>
            <a:r>
              <a:rPr lang="en-US" sz="2000" b="1" dirty="0"/>
              <a:t>Transfer Learning</a:t>
            </a:r>
            <a:r>
              <a:rPr lang="en-US" sz="2000" dirty="0"/>
              <a:t>: Initialized with COCO checkpoints to accelerate learning.</a:t>
            </a:r>
          </a:p>
          <a:p>
            <a:r>
              <a:rPr lang="en-US" sz="2000" b="1" dirty="0"/>
              <a:t>Configuration</a:t>
            </a:r>
            <a:r>
              <a:rPr lang="en-US" sz="2000" dirty="0"/>
              <a:t>: Trained for 300 Epochs using the "Accurate" model type</a:t>
            </a:r>
          </a:p>
          <a:p>
            <a:endParaRPr lang="en-US" dirty="0"/>
          </a:p>
        </p:txBody>
      </p:sp>
      <p:pic>
        <p:nvPicPr>
          <p:cNvPr id="14" name="Picture 13" descr="Screenshot 2025-12-28 144657">
            <a:extLst>
              <a:ext uri="{FF2B5EF4-FFF2-40B4-BE49-F238E27FC236}">
                <a16:creationId xmlns:a16="http://schemas.microsoft.com/office/drawing/2014/main" id="{7516FE00-F714-8711-42CB-C283DE8BA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287" y="1871226"/>
            <a:ext cx="6407059" cy="346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591249-030D-9405-C52C-522176033C76}"/>
              </a:ext>
            </a:extLst>
          </p:cNvPr>
          <p:cNvSpPr txBox="1"/>
          <p:nvPr/>
        </p:nvSpPr>
        <p:spPr>
          <a:xfrm rot="10800000" flipV="1">
            <a:off x="533400" y="1078455"/>
            <a:ext cx="722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Validation Results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631A1FB-3DDA-8DF3-38A1-AAF8D68F028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33400" y="1792998"/>
            <a:ext cx="405174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.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mAP@50: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97.1% (Excellent reliability).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Precision: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99.3% (Very low false positives).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Recall: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97.0% (Detects almost all objects present)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DBE661-9F21-9078-FA59-B7986F86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15" y="142895"/>
            <a:ext cx="4457196" cy="2648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Screenshot 2025-12-28 150252">
            <a:extLst>
              <a:ext uri="{FF2B5EF4-FFF2-40B4-BE49-F238E27FC236}">
                <a16:creationId xmlns:a16="http://schemas.microsoft.com/office/drawing/2014/main" id="{CAC20F04-E081-C9E1-AFCF-D0F9498F3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298" y="2974004"/>
            <a:ext cx="6394102" cy="370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Methodology- Phase 3: Mobile Integration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0DE912-890C-C1F0-556D-3E707858F94D}"/>
              </a:ext>
            </a:extLst>
          </p:cNvPr>
          <p:cNvSpPr txBox="1"/>
          <p:nvPr/>
        </p:nvSpPr>
        <p:spPr>
          <a:xfrm>
            <a:off x="671803" y="1548882"/>
            <a:ext cx="5598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App Architecture( MIT App Inventor)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FEBB4C-8858-01D0-D05A-FEB97EA1494E}"/>
              </a:ext>
            </a:extLst>
          </p:cNvPr>
          <p:cNvSpPr txBox="1"/>
          <p:nvPr/>
        </p:nvSpPr>
        <p:spPr>
          <a:xfrm>
            <a:off x="444500" y="2419418"/>
            <a:ext cx="4407417" cy="2948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Strategy</a:t>
            </a:r>
            <a:r>
              <a:rPr lang="en-US" dirty="0">
                <a:solidFill>
                  <a:schemeClr val="bg1"/>
                </a:solidFill>
              </a:rPr>
              <a:t>: "Cloud-Edge" synergy. The app acts as a secure launcher.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Logic</a:t>
            </a:r>
            <a:r>
              <a:rPr lang="en-US" dirty="0">
                <a:solidFill>
                  <a:schemeClr val="bg1"/>
                </a:solidFill>
              </a:rPr>
              <a:t>: Uses an </a:t>
            </a:r>
            <a:r>
              <a:rPr lang="en-US" dirty="0" err="1">
                <a:solidFill>
                  <a:schemeClr val="bg1"/>
                </a:solidFill>
                <a:latin typeface="Agency FB" panose="020B0503020202020204" pitchFamily="34" charset="0"/>
              </a:rPr>
              <a:t>ActivityStarter</a:t>
            </a:r>
            <a:r>
              <a:rPr lang="en-US" dirty="0">
                <a:solidFill>
                  <a:schemeClr val="bg1"/>
                </a:solidFill>
              </a:rPr>
              <a:t> intent to bridge the Android OS with the AI Web Interface.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Benefit</a:t>
            </a:r>
            <a:r>
              <a:rPr lang="en-US" dirty="0">
                <a:solidFill>
                  <a:schemeClr val="bg1"/>
                </a:solidFill>
              </a:rPr>
              <a:t>: Decouples the heavy processing from the phone, allowing it to run on older devices</a:t>
            </a:r>
          </a:p>
        </p:txBody>
      </p:sp>
      <p:pic>
        <p:nvPicPr>
          <p:cNvPr id="15" name="Picture 14" descr="WhatsApp Image 2025-12-28 at 15.57.36">
            <a:extLst>
              <a:ext uri="{FF2B5EF4-FFF2-40B4-BE49-F238E27FC236}">
                <a16:creationId xmlns:a16="http://schemas.microsoft.com/office/drawing/2014/main" id="{40F39F1C-C148-4BCA-0625-0DB610F44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715"/>
          <a:stretch>
            <a:fillRect/>
          </a:stretch>
        </p:blipFill>
        <p:spPr>
          <a:xfrm>
            <a:off x="7940067" y="946866"/>
            <a:ext cx="3580130" cy="2273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D96614-F6B7-AFFA-4E3E-E3323892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19" t="31011" r="21174" b="44264"/>
          <a:stretch>
            <a:fillRect/>
          </a:stretch>
        </p:blipFill>
        <p:spPr>
          <a:xfrm>
            <a:off x="4851917" y="3647932"/>
            <a:ext cx="7279873" cy="182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Demonstration Results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6" y="1825625"/>
            <a:ext cx="6647900" cy="1048204"/>
          </a:xfrm>
        </p:spPr>
        <p:txBody>
          <a:bodyPr>
            <a:normAutofit/>
          </a:bodyPr>
          <a:lstStyle/>
          <a:p>
            <a:r>
              <a:rPr lang="en-US" sz="2000" dirty="0"/>
              <a:t>Successful detection in uncontrolled environments (home lighting).</a:t>
            </a:r>
          </a:p>
          <a:p>
            <a:r>
              <a:rPr lang="en-US" sz="2000" dirty="0"/>
              <a:t>Instant feedback loop (&lt;1 second latency).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0968D-20DF-4418-DE59-A5B26CBD94AA}"/>
              </a:ext>
            </a:extLst>
          </p:cNvPr>
          <p:cNvSpPr txBox="1"/>
          <p:nvPr/>
        </p:nvSpPr>
        <p:spPr>
          <a:xfrm>
            <a:off x="444500" y="1268963"/>
            <a:ext cx="8270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Real-World Inference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A9131B-29E7-D801-AC88-102BBD00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637"/>
          <a:stretch>
            <a:fillRect/>
          </a:stretch>
        </p:blipFill>
        <p:spPr>
          <a:xfrm>
            <a:off x="6643397" y="0"/>
            <a:ext cx="3862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0EF8FA-B38B-2045-00E9-C4AC2182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 and Conclusion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1B97B-A970-21CF-AE54-08803F15B5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b="1" dirty="0"/>
              <a:t>Success</a:t>
            </a:r>
            <a:r>
              <a:rPr lang="en-US" sz="1800" dirty="0"/>
              <a:t>: Successfully digitized a manual inventory process with 97% accuracy.</a:t>
            </a:r>
          </a:p>
          <a:p>
            <a:r>
              <a:rPr lang="en-US" sz="1800" b="1" dirty="0"/>
              <a:t>Future Upgrade 1</a:t>
            </a:r>
            <a:r>
              <a:rPr lang="en-US" sz="1800" dirty="0"/>
              <a:t>: Offline Inference (Edge AI) for use without internet.</a:t>
            </a:r>
          </a:p>
          <a:p>
            <a:r>
              <a:rPr lang="en-US" sz="1800" b="1" dirty="0"/>
              <a:t>Future Upgrade 2</a:t>
            </a:r>
            <a:r>
              <a:rPr lang="en-US" sz="1800" dirty="0"/>
              <a:t>: Integration with Hospital SQL databases for automated re-ordering</a:t>
            </a:r>
          </a:p>
          <a:p>
            <a:r>
              <a:rPr lang="en-US" sz="1800" b="1" dirty="0"/>
              <a:t>Impact</a:t>
            </a:r>
            <a:r>
              <a:rPr lang="en-US" sz="1800" dirty="0"/>
              <a:t>: A scalable example of Industry 4.0 in Biomedical Engineering.</a:t>
            </a:r>
          </a:p>
        </p:txBody>
      </p:sp>
    </p:spTree>
    <p:extLst>
      <p:ext uri="{BB962C8B-B14F-4D97-AF65-F5344CB8AC3E}">
        <p14:creationId xmlns:p14="http://schemas.microsoft.com/office/powerpoint/2010/main" val="1439065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73</TotalTime>
  <Words>435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Agency FB</vt:lpstr>
      <vt:lpstr>Arial</vt:lpstr>
      <vt:lpstr>Calibri</vt:lpstr>
      <vt:lpstr>Trade Gothic LT Pro</vt:lpstr>
      <vt:lpstr>Trebuchet MS</vt:lpstr>
      <vt:lpstr>Office Theme</vt:lpstr>
      <vt:lpstr>         MediScan AI</vt:lpstr>
      <vt:lpstr>The Problem Statement</vt:lpstr>
      <vt:lpstr>Our Solution ( System Overview)</vt:lpstr>
      <vt:lpstr>Methodology – Phase 1: Data Engineering </vt:lpstr>
      <vt:lpstr>Methodology- Phase 2: Model Architecture </vt:lpstr>
      <vt:lpstr>Performance Metrics </vt:lpstr>
      <vt:lpstr>Methodology- Phase 3: Mobile Integration </vt:lpstr>
      <vt:lpstr>Live Demonstration Results </vt:lpstr>
      <vt:lpstr>Future Scope and 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Amna Yousuf</dc:creator>
  <cp:lastModifiedBy>Amna Yousuf</cp:lastModifiedBy>
  <cp:revision>1</cp:revision>
  <dcterms:created xsi:type="dcterms:W3CDTF">2025-12-29T11:56:40Z</dcterms:created>
  <dcterms:modified xsi:type="dcterms:W3CDTF">2025-12-29T13:09:54Z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